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61" r:id="rId3"/>
    <p:sldId id="262" r:id="rId4"/>
    <p:sldId id="265" r:id="rId5"/>
    <p:sldId id="266" r:id="rId6"/>
    <p:sldId id="267" r:id="rId7"/>
    <p:sldId id="268" r:id="rId8"/>
    <p:sldId id="269" r:id="rId9"/>
    <p:sldId id="279" r:id="rId10"/>
    <p:sldId id="280" r:id="rId11"/>
    <p:sldId id="282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3FA3-F728-4976-AB34-5E9391A1799A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73789-46F6-450A-8A71-798FDBE6E2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402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49C81-6450-D923-A346-25D6C9D4C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984DD-6775-67DF-262F-72E84E428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563DA-DCAD-7763-1709-C9744C05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E4BE6-FDA2-79FE-BD55-82CEE0FB4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1CA0E-07F6-171F-B815-4E51CA67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11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E8A6-8B7E-6094-F2A7-F0DCE048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11376-019D-2623-113D-BF024F6C4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F8D16-EDBF-436B-CD87-C3FF1C97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6CB00-DC6A-73ED-090F-F485D4CD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F66B1-CA8A-5BAF-5A6A-A98A38DA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17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3BBA3-5C8E-4B72-C534-D5CAB489F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0CB5B-A2CF-DA4D-07A4-8C89EBD68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9A6D7-B750-E813-FBE9-EB0FFBAB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364BF-84FA-FDD9-4844-E336FEE9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2CEB8-BE49-8675-10AF-594CC963A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42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E69E-8EEF-CD49-FC75-E715C93C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EDC7A-1267-CC2E-8360-3A1EE540E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0D32A-4CB6-D60C-9654-73CCE77FC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193EE-4D3D-F607-DA6D-58ABE030D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DF0D1-DDCE-17B4-E0C6-F983725D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F77C1-E002-A01D-367E-8808B774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58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F8ED-116E-3A3B-A5BE-575D15D41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04487-FB82-3FCB-6E97-F0F08B7B0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2D91B-ABF4-CECA-A36D-E1450296B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A8428-4E7F-F083-72A5-CFD3C4749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8A6AAE-17D5-ADD3-EA4C-4959DF399D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D8E2E6-1DA5-3769-0F81-05A9E7F4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04AEE2-292E-6C33-F829-42E1DE139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F8E3A3-BC03-86D3-E83B-0D6B8B64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95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B195-2011-A7AF-715B-4E0B757F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FBA99-C19C-3EA1-CC9F-1F6044637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459AE-7E0D-65E2-9970-B4313B47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306AE-57AA-62EA-24F1-C80829F9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149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AE3E71-644B-E22C-6D74-28618000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752AF-4DE1-A3F6-C415-700786C9C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6D2A1-1E7F-0911-0703-5072F4725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71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32EB-2B55-7478-AF04-49C72DD9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A4D49-B160-EB12-643F-3C6D7CE54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99A43-53C2-00FC-10D6-B02F1CDF2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8CA44-B186-E750-428A-66EEE9D1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267DF-13FF-2361-C3B4-442C1056A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A7CD4-3930-5B98-249D-0429BA1F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84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0616-83D9-4C6F-7388-DD3D6ED5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099B46-DDB7-B7EC-2A13-9780252B6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EE821-1198-09B0-8713-C354EB18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AEFDA-DD00-3445-6099-F5B358D03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BE02A-7437-1520-2B1F-EBA5EF7C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BBCB3-CAD8-A89C-3411-E3F6F62C8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217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35B0-E46F-AEA1-B91C-B6ADACA3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47FCE-76BF-2A2F-1F46-A9E3578B4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5D163-7A4D-060F-3740-3629A1FC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9BFA3-814D-C0C9-B330-56B4CFC68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BFC48-B164-955C-FF74-2AC08523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934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A4A56F-D9FA-6721-FBC8-0347AC114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5CF81-53D8-61EB-431E-9C232EC96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E59FE-5608-25AA-D6CD-8AC727B6E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97789-1E51-D165-154A-A6D6DB4A1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5B59B-248E-05A8-10F5-43BC96012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20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EF6068-49F0-2332-33D0-11A9C0190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E8429-9F1B-8B97-7F6B-2A2C9915B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67AE5-7C5D-32BB-51F0-1D2C0E1BD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EE872-87C5-42AA-94A4-830F0A802B46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91C9E-840B-023B-C189-2631ED74C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4E055-6F8B-4B6B-984A-927E450C7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FB896-A085-4D43-A6B1-2335239BB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20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FF31C5A-2B58-AF5C-1C7C-094C28556AE8}"/>
              </a:ext>
            </a:extLst>
          </p:cNvPr>
          <p:cNvSpPr txBox="1">
            <a:spLocks/>
          </p:cNvSpPr>
          <p:nvPr/>
        </p:nvSpPr>
        <p:spPr>
          <a:xfrm>
            <a:off x="78658" y="1408911"/>
            <a:ext cx="12034683" cy="48983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Gujarat University</a:t>
            </a:r>
            <a:b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School of Emerging Science and Technology </a:t>
            </a:r>
            <a:b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CC-406 Project-II : Project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Topic : </a:t>
            </a:r>
            <a:r>
              <a:rPr lang="en-IN" sz="3200" dirty="0">
                <a:latin typeface="Verdana" panose="020B0604030504040204" pitchFamily="34" charset="0"/>
                <a:ea typeface="Verdana" panose="020B0604030504040204" pitchFamily="34" charset="0"/>
              </a:rPr>
              <a:t>Traffic Sign Recognition for Autonomous Vehicles</a:t>
            </a:r>
            <a:r>
              <a:rPr lang="en-GB" sz="3200" u="sng" dirty="0"/>
              <a:t> </a:t>
            </a:r>
            <a:endParaRPr lang="en-US" sz="2800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                   DS</a:t>
            </a:r>
            <a:r>
              <a:rPr 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ani" panose="020B0502040204020203" pitchFamily="18" charset="0"/>
              </a:rPr>
              <a:t>-29 Prem Patel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ani" panose="020B0502040204020203" pitchFamily="18" charset="0"/>
              </a:rPr>
              <a:t>                           Enroll no:- 202222600013  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Under the guidance of </a:t>
            </a:r>
            <a:b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Mr. Rishap Parmar</a:t>
            </a: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Vani" panose="020B0502040204020203" pitchFamily="18" charset="0"/>
              </a:rPr>
              <a:t>  </a:t>
            </a:r>
            <a:endParaRPr lang="en-US" sz="2800" b="1" dirty="0">
              <a:latin typeface="Vani" panose="020B0502040204020203" pitchFamily="18" charset="0"/>
              <a:ea typeface="Verdana" panose="020B0604030504040204" pitchFamily="34" charset="0"/>
              <a:cs typeface="Vani" panose="020B0502040204020203" pitchFamily="18" charset="0"/>
            </a:endParaRPr>
          </a:p>
        </p:txBody>
      </p:sp>
      <p:pic>
        <p:nvPicPr>
          <p:cNvPr id="3" name="Content Placeholder 5" descr="A logo with a peacock and text&#10;&#10;Description automatically generated">
            <a:extLst>
              <a:ext uri="{FF2B5EF4-FFF2-40B4-BE49-F238E27FC236}">
                <a16:creationId xmlns:a16="http://schemas.microsoft.com/office/drawing/2014/main" id="{6BFEDBDF-E7B7-9E7A-D288-8BEF6C3D6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7" y="199780"/>
            <a:ext cx="1397967" cy="17108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947EEB-7000-B7CD-266D-08EE62ACD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866" y="255818"/>
            <a:ext cx="1600817" cy="16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7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ar driving on a road&#10;&#10;AI-generated content may be incorrect.">
            <a:extLst>
              <a:ext uri="{FF2B5EF4-FFF2-40B4-BE49-F238E27FC236}">
                <a16:creationId xmlns:a16="http://schemas.microsoft.com/office/drawing/2014/main" id="{6E82AB50-FDD6-E393-898D-16C9FF53A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4" r="9089" b="1884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FD568-E223-ADD4-FEE0-39B109BF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Traffic Sign Recognition for Autonomous Vehicles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6566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CD16F-120D-193E-EAD0-4354951BC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3519"/>
            <a:ext cx="10515600" cy="83590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 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2A24B-F525-5160-B5ED-68CD9DB8CECC}"/>
              </a:ext>
            </a:extLst>
          </p:cNvPr>
          <p:cNvSpPr txBox="1"/>
          <p:nvPr/>
        </p:nvSpPr>
        <p:spPr>
          <a:xfrm>
            <a:off x="167986" y="835902"/>
            <a:ext cx="11856028" cy="6022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 critical task of Traffic Sign Recognition (TSR) for autonomous vehicles and driver assistance systems by developing a deep learning model based on a </a:t>
            </a: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Utilizing the German Traffic Sign Recognition Benchmark </a:t>
            </a: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(GTSRB)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dataset, the methodology incorporates advanced image preprocessing, including </a:t>
            </a: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of Interest (ROI)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cropping and </a:t>
            </a: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 Limited Adaptive Histogram Equalization (CLAHE),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with data augmentation to enhance model robustness.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model achieves a high accuracy of </a:t>
            </a: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98.56%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unseen test set, demonstrating the effectiveness of CNNs for real-time computer vision tasks essential for driver assistance systems and autonomous driving.</a:t>
            </a:r>
          </a:p>
        </p:txBody>
      </p:sp>
    </p:spTree>
    <p:extLst>
      <p:ext uri="{BB962C8B-B14F-4D97-AF65-F5344CB8AC3E}">
        <p14:creationId xmlns:p14="http://schemas.microsoft.com/office/powerpoint/2010/main" val="378761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6F81-04CD-7B9F-57C9-A0AA7A744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8" y="281998"/>
            <a:ext cx="11287991" cy="838142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Crimson Pro Bold" pitchFamily="34" charset="-120"/>
              </a:rPr>
              <a:t> The Autonomous Driving Revolution</a:t>
            </a:r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51936A-2CA3-281B-6F67-FA7F76E43847}"/>
              </a:ext>
            </a:extLst>
          </p:cNvPr>
          <p:cNvSpPr txBox="1"/>
          <p:nvPr/>
        </p:nvSpPr>
        <p:spPr>
          <a:xfrm>
            <a:off x="266698" y="1231075"/>
            <a:ext cx="7890165" cy="5626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Advanced Driver-Assistance Systems (ADAS) and autonomous vehicles are fundamentally transforming how we approach transportation safety and efficiency.</a:t>
            </a:r>
            <a:r>
              <a:rPr lang="en-US" sz="2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Effective perception of the road environment is absolutely critical for safe autonomous operation. Among all perception tasks, </a:t>
            </a:r>
            <a:r>
              <a:rPr lang="en-US" sz="2700" b="1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recognizing and interpreting traffic signs stands as one of the most </a:t>
            </a:r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skills</a:t>
            </a:r>
            <a:r>
              <a:rPr lang="en-US" sz="270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for ensuring </a:t>
            </a:r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</a:t>
            </a:r>
            <a:r>
              <a:rPr lang="en-US" sz="270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with traffic laws.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person driving a car&#10;&#10;AI-generated content may be incorrect.">
            <a:extLst>
              <a:ext uri="{FF2B5EF4-FFF2-40B4-BE49-F238E27FC236}">
                <a16:creationId xmlns:a16="http://schemas.microsoft.com/office/drawing/2014/main" id="{AD4E6A32-9FBE-180F-C1D0-5F55FF1CF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555" y="1569027"/>
            <a:ext cx="3643747" cy="449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2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3889-2A6D-E685-A4ED-43CE6D4EA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87497"/>
            <a:ext cx="12292445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What is Traffic Sign Recognition (TSR)?</a:t>
            </a:r>
            <a:endParaRPr lang="en-GB" sz="4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BCDDC-1C40-A7BE-D4ED-CF156EA3DF7F}"/>
              </a:ext>
            </a:extLst>
          </p:cNvPr>
          <p:cNvSpPr txBox="1"/>
          <p:nvPr/>
        </p:nvSpPr>
        <p:spPr>
          <a:xfrm>
            <a:off x="124691" y="2351534"/>
            <a:ext cx="7606145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Core Steps: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Locating the sign within an image.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the specific type of sign (e.g., 'Stop', 'Speed Limit 50km/h’).</a:t>
            </a:r>
          </a:p>
        </p:txBody>
      </p:sp>
      <p:pic>
        <p:nvPicPr>
          <p:cNvPr id="6" name="Picture 5" descr="A blue car on a road&#10;&#10;AI-generated content may be incorrect.">
            <a:extLst>
              <a:ext uri="{FF2B5EF4-FFF2-40B4-BE49-F238E27FC236}">
                <a16:creationId xmlns:a16="http://schemas.microsoft.com/office/drawing/2014/main" id="{6014A0AB-8A90-B9B3-784B-46699EA10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390" y="2317173"/>
            <a:ext cx="3948545" cy="3023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48A256-EA99-A670-1A51-16A485966F46}"/>
              </a:ext>
            </a:extLst>
          </p:cNvPr>
          <p:cNvSpPr txBox="1"/>
          <p:nvPr/>
        </p:nvSpPr>
        <p:spPr>
          <a:xfrm>
            <a:off x="124692" y="1116845"/>
            <a:ext cx="11835243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technology that enables a vehicle to recognize traffic signs on the road.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C3DC7-AD39-7AA1-FBD0-E2D91107D426}"/>
              </a:ext>
            </a:extLst>
          </p:cNvPr>
          <p:cNvSpPr txBox="1"/>
          <p:nvPr/>
        </p:nvSpPr>
        <p:spPr>
          <a:xfrm>
            <a:off x="124691" y="5525216"/>
            <a:ext cx="11776363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vehicle's control system uses this data to make critical driving decisions.</a:t>
            </a:r>
          </a:p>
        </p:txBody>
      </p:sp>
    </p:spTree>
    <p:extLst>
      <p:ext uri="{BB962C8B-B14F-4D97-AF65-F5344CB8AC3E}">
        <p14:creationId xmlns:p14="http://schemas.microsoft.com/office/powerpoint/2010/main" val="427192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8502-5C02-CA70-2693-90C0AE0CC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19" y="11430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 Technical Challenges in TSR</a:t>
            </a:r>
            <a:endParaRPr lang="en-GB" sz="4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4AB31-0635-2BA2-774A-C7A29FD719F7}"/>
              </a:ext>
            </a:extLst>
          </p:cNvPr>
          <p:cNvSpPr txBox="1"/>
          <p:nvPr/>
        </p:nvSpPr>
        <p:spPr>
          <a:xfrm>
            <a:off x="426028" y="1242996"/>
            <a:ext cx="11520053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Variability 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(day/night), weather (rain/fog), and sign condition (faded/vandalized).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 Distortions 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signs from different angles, distances, or when they are partially blocked.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 Issues 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blur from moving vehicles and camera limitations affect image clarity.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traffic signs appear far more frequently than others, potentially biasing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62003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921A85-0BA2-0460-B621-2F7AC9C16219}"/>
              </a:ext>
            </a:extLst>
          </p:cNvPr>
          <p:cNvSpPr txBox="1"/>
          <p:nvPr/>
        </p:nvSpPr>
        <p:spPr>
          <a:xfrm>
            <a:off x="294411" y="279718"/>
            <a:ext cx="62501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Primary 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ED781-7F5A-DA75-0EDF-26E60A942C72}"/>
              </a:ext>
            </a:extLst>
          </p:cNvPr>
          <p:cNvSpPr txBox="1"/>
          <p:nvPr/>
        </p:nvSpPr>
        <p:spPr>
          <a:xfrm>
            <a:off x="439884" y="1089228"/>
            <a:ext cx="11135589" cy="2612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Train a CNN: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and train a highly accurate Convolutional Neural Network (CNN) model capable of classifying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 different types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German traffic signs from image data provided by the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GTSRB dataset.</a:t>
            </a:r>
            <a:endParaRPr lang="en-GB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A6D433-0700-4127-0F25-659D5374C318}"/>
              </a:ext>
            </a:extLst>
          </p:cNvPr>
          <p:cNvSpPr txBox="1"/>
          <p:nvPr/>
        </p:nvSpPr>
        <p:spPr>
          <a:xfrm>
            <a:off x="439884" y="3802977"/>
            <a:ext cx="10782298" cy="196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High Accuracy: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a high classification accuracy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test dataset, ensuring the model is reliable and robust enough for practical test.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32480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A836D1-08C4-BF3D-4AE9-BAFC22BC3C56}"/>
              </a:ext>
            </a:extLst>
          </p:cNvPr>
          <p:cNvSpPr txBox="1"/>
          <p:nvPr/>
        </p:nvSpPr>
        <p:spPr>
          <a:xfrm>
            <a:off x="363682" y="529441"/>
            <a:ext cx="1120140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Preprocessing: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and evaluate effective image preprocessing techniques, including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cropping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CLAHE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improve the model's performance under varied real-world conditions like poor lighting.</a:t>
            </a:r>
          </a:p>
          <a:p>
            <a:pPr algn="just">
              <a:lnSpc>
                <a:spcPct val="150000"/>
              </a:lnSpc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Functional Prototype: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functional application, such as a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for image uploads or a real-time webcam feed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demonstrate the model's practical application in a simulated environment.</a:t>
            </a:r>
          </a:p>
        </p:txBody>
      </p:sp>
    </p:spTree>
    <p:extLst>
      <p:ext uri="{BB962C8B-B14F-4D97-AF65-F5344CB8AC3E}">
        <p14:creationId xmlns:p14="http://schemas.microsoft.com/office/powerpoint/2010/main" val="425199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2B51-DE83-749F-F20C-CE47077C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81" y="198870"/>
            <a:ext cx="10515600" cy="75709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Literature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C22D2-42E5-18DF-D9D7-B14B45CFC7BA}"/>
              </a:ext>
            </a:extLst>
          </p:cNvPr>
          <p:cNvSpPr txBox="1"/>
          <p:nvPr/>
        </p:nvSpPr>
        <p:spPr>
          <a:xfrm>
            <a:off x="287481" y="1196328"/>
            <a:ext cx="11510530" cy="455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Girish Kumar N. G, Ashish Kishore, and Aaditya J. Krishna (2025) developed a real-time Traffic Sign Recognition system using CNNs, achieving 99.63% accuracy on GTSRB and 99.68% on CTSD. Integrating preprocessing, sensor fusion, and vehicle control, it enables accurate detection, speed regulation, and obstacle avoidance. With 24–30ms latency, the system ensures reliable, scalable, and cost-effective performance for autonomous vehicles.</a:t>
            </a:r>
          </a:p>
        </p:txBody>
      </p:sp>
    </p:spTree>
    <p:extLst>
      <p:ext uri="{BB962C8B-B14F-4D97-AF65-F5344CB8AC3E}">
        <p14:creationId xmlns:p14="http://schemas.microsoft.com/office/powerpoint/2010/main" val="385146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427521-5F4B-F2BE-A0D5-AD3DC07F3AD3}"/>
              </a:ext>
            </a:extLst>
          </p:cNvPr>
          <p:cNvSpPr txBox="1"/>
          <p:nvPr/>
        </p:nvSpPr>
        <p:spPr>
          <a:xfrm>
            <a:off x="512184" y="935980"/>
            <a:ext cx="11167631" cy="4547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 startAt="2"/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Wael Farag and Zakaria Saleh (2025) developed a deep CNN-based classifier, “WAF-LeNet,” for traffic sign recognition in autonomous driving systems. The 15-layer network, trained using the German Traffic Sign Dataset and optimized with Adam’s algorithm, achieved 96.5% accuracy on the test set and 100% on additional web-sourced images. Their approach demonstrated strong robustness and reliability, supporting real-time traffic sign identification in diverse conditions.</a:t>
            </a:r>
            <a:endParaRPr lang="en-GB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60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FFE2E8-2688-579C-B625-2BD283018A92}"/>
              </a:ext>
            </a:extLst>
          </p:cNvPr>
          <p:cNvSpPr txBox="1"/>
          <p:nvPr/>
        </p:nvSpPr>
        <p:spPr>
          <a:xfrm>
            <a:off x="594878" y="832071"/>
            <a:ext cx="10793557" cy="51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 startAt="3"/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Danyah A. </a:t>
            </a:r>
            <a:r>
              <a:rPr lang="en-IN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Alghmgham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Ghazanfar Latif, Jaafar </a:t>
            </a:r>
            <a:r>
              <a:rPr lang="en-IN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Alghazo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and Loay Alzubaidi (2018) developed a real-time Autonomous Traffic and Road Sign (ATRS) recognition system using a Deep Convolutional Neural Network (CNN). Their work introduced the SA-TRS-2018 dataset, comprising 2718 images of 24 traffic sign classes collected across various conditions in Saudi Arabia. The CNN model achieved 100% accuracy, outperforming previous studies and demonstrating strong potential for driver assistance and autonomous vehicle applications.</a:t>
            </a:r>
            <a:endParaRPr lang="en-GB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68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E15179-5EAF-0BDF-E678-BC9BBAD09549}"/>
              </a:ext>
            </a:extLst>
          </p:cNvPr>
          <p:cNvSpPr txBox="1"/>
          <p:nvPr/>
        </p:nvSpPr>
        <p:spPr>
          <a:xfrm>
            <a:off x="283153" y="492832"/>
            <a:ext cx="121028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Dataset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D007A-62FF-956C-C60D-684209AA8C6F}"/>
              </a:ext>
            </a:extLst>
          </p:cNvPr>
          <p:cNvSpPr txBox="1"/>
          <p:nvPr/>
        </p:nvSpPr>
        <p:spPr>
          <a:xfrm>
            <a:off x="385762" y="1579756"/>
            <a:ext cx="6461847" cy="4077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 Traffic Sign Recognition Benchmark (GTSRB)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dataset containing over 50,000 images across 43 distinct traffic sign classes, providing robust training data for model development.</a:t>
            </a:r>
          </a:p>
        </p:txBody>
      </p:sp>
      <p:pic>
        <p:nvPicPr>
          <p:cNvPr id="11" name="Picture 10" descr="A collection of road signs&#10;&#10;AI-generated content may be incorrect.">
            <a:extLst>
              <a:ext uri="{FF2B5EF4-FFF2-40B4-BE49-F238E27FC236}">
                <a16:creationId xmlns:a16="http://schemas.microsoft.com/office/drawing/2014/main" id="{E2A7F8D6-64B8-10E7-E51B-DA57D088A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289" y="1579756"/>
            <a:ext cx="4933949" cy="407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4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9ED3FF-8602-9D2E-7B59-F5B32168F81F}"/>
              </a:ext>
            </a:extLst>
          </p:cNvPr>
          <p:cNvSpPr txBox="1"/>
          <p:nvPr/>
        </p:nvSpPr>
        <p:spPr>
          <a:xfrm>
            <a:off x="148070" y="397224"/>
            <a:ext cx="78529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Preprocessing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9B8B44-3B48-42D1-0B58-9B529C5C601F}"/>
              </a:ext>
            </a:extLst>
          </p:cNvPr>
          <p:cNvSpPr txBox="1"/>
          <p:nvPr/>
        </p:nvSpPr>
        <p:spPr>
          <a:xfrm>
            <a:off x="318654" y="1610637"/>
            <a:ext cx="11554691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Cropping: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Isolate the sign from its background to focus the model's attention.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CLAHE Enhancement: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Contrast Limited Adaptive Histogram Equalization to improve image contrast and detail.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Artificially expand the dataset through rotation, zooming, and shifting to build a more robust model.</a:t>
            </a:r>
          </a:p>
        </p:txBody>
      </p:sp>
    </p:spTree>
    <p:extLst>
      <p:ext uri="{BB962C8B-B14F-4D97-AF65-F5344CB8AC3E}">
        <p14:creationId xmlns:p14="http://schemas.microsoft.com/office/powerpoint/2010/main" val="235697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99F7C-B361-FC4C-D417-12DF5273528F}"/>
              </a:ext>
            </a:extLst>
          </p:cNvPr>
          <p:cNvSpPr txBox="1"/>
          <p:nvPr/>
        </p:nvSpPr>
        <p:spPr>
          <a:xfrm>
            <a:off x="8056417" y="2965139"/>
            <a:ext cx="4045961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Flatten layer followed by Dense layers to make the final prediction with a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481B7-76BC-31DB-C28D-4F9660716CDC}"/>
              </a:ext>
            </a:extLst>
          </p:cNvPr>
          <p:cNvSpPr txBox="1"/>
          <p:nvPr/>
        </p:nvSpPr>
        <p:spPr>
          <a:xfrm>
            <a:off x="96116" y="100588"/>
            <a:ext cx="116144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 Model Architecture : </a:t>
            </a:r>
          </a:p>
          <a:p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    Convolutional Neural Network (CNN)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77FAF-E208-46D9-2BAB-3E326779D8AF}"/>
              </a:ext>
            </a:extLst>
          </p:cNvPr>
          <p:cNvSpPr txBox="1"/>
          <p:nvPr/>
        </p:nvSpPr>
        <p:spPr>
          <a:xfrm>
            <a:off x="179243" y="1424027"/>
            <a:ext cx="112689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model specifically designed for image classification tasks.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1FABF8B-6F5A-D902-374D-602364795BD9}"/>
              </a:ext>
            </a:extLst>
          </p:cNvPr>
          <p:cNvSpPr/>
          <p:nvPr/>
        </p:nvSpPr>
        <p:spPr>
          <a:xfrm>
            <a:off x="179243" y="2186581"/>
            <a:ext cx="3866718" cy="737754"/>
          </a:xfrm>
          <a:prstGeom prst="chevro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A2D959-1188-69CC-F4F1-7A477C455BFC}"/>
              </a:ext>
            </a:extLst>
          </p:cNvPr>
          <p:cNvSpPr txBox="1"/>
          <p:nvPr/>
        </p:nvSpPr>
        <p:spPr>
          <a:xfrm>
            <a:off x="179243" y="2965139"/>
            <a:ext cx="3789220" cy="3621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Blocks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blocks with Conv2D layers, Batch Normalization, and Max Pooling to extract features.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0C6EF4F8-2FFC-A54F-3D45-C1AF1583A032}"/>
              </a:ext>
            </a:extLst>
          </p:cNvPr>
          <p:cNvSpPr/>
          <p:nvPr/>
        </p:nvSpPr>
        <p:spPr>
          <a:xfrm>
            <a:off x="4162641" y="2186581"/>
            <a:ext cx="3866718" cy="737754"/>
          </a:xfrm>
          <a:prstGeom prst="chevro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B1E7E8BE-0C31-90CE-9838-D3BD3E0BB3A1}"/>
              </a:ext>
            </a:extLst>
          </p:cNvPr>
          <p:cNvSpPr/>
          <p:nvPr/>
        </p:nvSpPr>
        <p:spPr>
          <a:xfrm>
            <a:off x="8146039" y="2186581"/>
            <a:ext cx="3866718" cy="737754"/>
          </a:xfrm>
          <a:prstGeom prst="chevro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F66D21-0CD2-0DDF-BDCC-0900E4EFE0F6}"/>
              </a:ext>
            </a:extLst>
          </p:cNvPr>
          <p:cNvSpPr txBox="1"/>
          <p:nvPr/>
        </p:nvSpPr>
        <p:spPr>
          <a:xfrm>
            <a:off x="4091851" y="2965139"/>
            <a:ext cx="3937507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Layers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overfitting and improve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5636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 animBg="1"/>
      <p:bldP spid="15" grpId="0" animBg="1"/>
      <p:bldP spid="16" grpId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B04AA-6AA7-9EB9-D95B-121E1F3B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44587E-ECEA-99E9-BF93-62AB2967AFE1}"/>
              </a:ext>
            </a:extLst>
          </p:cNvPr>
          <p:cNvSpPr txBox="1"/>
          <p:nvPr/>
        </p:nvSpPr>
        <p:spPr>
          <a:xfrm>
            <a:off x="6234545" y="2965139"/>
            <a:ext cx="5754832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loss curves reveal stable learning progression with excellent generalization from training to validation sets, indicating robust model architecture and effective regularization.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FE7E80-EA4B-E14C-E3AD-2B63FEA23324}"/>
              </a:ext>
            </a:extLst>
          </p:cNvPr>
          <p:cNvSpPr txBox="1"/>
          <p:nvPr/>
        </p:nvSpPr>
        <p:spPr>
          <a:xfrm>
            <a:off x="283152" y="127061"/>
            <a:ext cx="105753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 Outstanding Performance Results</a:t>
            </a:r>
            <a:endParaRPr lang="en-GB" sz="4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70456-C394-B2DD-03D8-7FFAB9FEB1D9}"/>
              </a:ext>
            </a:extLst>
          </p:cNvPr>
          <p:cNvSpPr txBox="1"/>
          <p:nvPr/>
        </p:nvSpPr>
        <p:spPr>
          <a:xfrm>
            <a:off x="4764231" y="962600"/>
            <a:ext cx="6094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98.56%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704B5-4906-73E2-9E7F-F7E005890096}"/>
              </a:ext>
            </a:extLst>
          </p:cNvPr>
          <p:cNvSpPr txBox="1"/>
          <p:nvPr/>
        </p:nvSpPr>
        <p:spPr>
          <a:xfrm>
            <a:off x="202624" y="2998468"/>
            <a:ext cx="5657402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achieved outstanding results,, surpassing the 90% accuracy and demonstrating remarkable reliability on unseen data.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09D638A8-8864-59A4-FC7B-660623D434F6}"/>
              </a:ext>
            </a:extLst>
          </p:cNvPr>
          <p:cNvSpPr/>
          <p:nvPr/>
        </p:nvSpPr>
        <p:spPr>
          <a:xfrm>
            <a:off x="501359" y="2290582"/>
            <a:ext cx="5069466" cy="7078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Accuracy</a:t>
            </a:r>
            <a:endParaRPr lang="en-GB" sz="3200" dirty="0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44709428-B7C9-EDB1-6BBF-7FD6A07F3C49}"/>
              </a:ext>
            </a:extLst>
          </p:cNvPr>
          <p:cNvSpPr/>
          <p:nvPr/>
        </p:nvSpPr>
        <p:spPr>
          <a:xfrm>
            <a:off x="6621177" y="2290582"/>
            <a:ext cx="5069466" cy="7078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Analysis Insights</a:t>
            </a:r>
            <a:endParaRPr lang="en-GB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18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1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C435454-D143-2D79-32BD-0C407C30A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377620"/>
            <a:ext cx="11316160" cy="606250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255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CBFF12-27F5-B48E-D83D-F53E64E6EB34}"/>
              </a:ext>
            </a:extLst>
          </p:cNvPr>
          <p:cNvSpPr txBox="1"/>
          <p:nvPr/>
        </p:nvSpPr>
        <p:spPr>
          <a:xfrm>
            <a:off x="8154265" y="3352781"/>
            <a:ext cx="3421208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</a:p>
          <a:p>
            <a:pPr algn="just">
              <a:lnSpc>
                <a:spcPct val="150000"/>
              </a:lnSpc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the model's confidence score for each prediction to assess reliability.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C7F87-11CC-3A40-9B9B-B8F91AEC458B}"/>
              </a:ext>
            </a:extLst>
          </p:cNvPr>
          <p:cNvSpPr txBox="1"/>
          <p:nvPr/>
        </p:nvSpPr>
        <p:spPr>
          <a:xfrm>
            <a:off x="345497" y="251752"/>
            <a:ext cx="10824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Live Demonstration &amp; Prototype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23AAD-D40E-2779-2C63-87F91B189C59}"/>
              </a:ext>
            </a:extLst>
          </p:cNvPr>
          <p:cNvSpPr txBox="1"/>
          <p:nvPr/>
        </p:nvSpPr>
        <p:spPr>
          <a:xfrm>
            <a:off x="501360" y="1160659"/>
            <a:ext cx="109494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functional GUI was developed to test the model on images.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5F1D5-9D02-F87E-118F-34E2F1FB720A}"/>
              </a:ext>
            </a:extLst>
          </p:cNvPr>
          <p:cNvSpPr txBox="1"/>
          <p:nvPr/>
        </p:nvSpPr>
        <p:spPr>
          <a:xfrm>
            <a:off x="381433" y="3359718"/>
            <a:ext cx="305233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</a:t>
            </a:r>
          </a:p>
          <a:p>
            <a:pPr algn="just">
              <a:lnSpc>
                <a:spcPct val="150000"/>
              </a:lnSpc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 traffic sign image for instant analysis and classification.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E5B875-C7DF-1DED-2A63-B7513E86B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52" y="2055148"/>
            <a:ext cx="1842655" cy="11606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8298F0-BF81-E029-5161-B846C8867501}"/>
              </a:ext>
            </a:extLst>
          </p:cNvPr>
          <p:cNvSpPr txBox="1"/>
          <p:nvPr/>
        </p:nvSpPr>
        <p:spPr>
          <a:xfrm>
            <a:off x="4068909" y="3359718"/>
            <a:ext cx="3674484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Prediction</a:t>
            </a:r>
          </a:p>
          <a:p>
            <a:pPr algn="just">
              <a:lnSpc>
                <a:spcPct val="150000"/>
              </a:lnSpc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an immediate prediction of the sign type with high accuracy.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BC62A3-CEB7-6C4C-D986-7889F78F7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1" y="2055148"/>
            <a:ext cx="2514600" cy="11606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BF9D44-C3E2-5168-6602-6B5251999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480" y="1941469"/>
            <a:ext cx="2881746" cy="116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30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D887BB-4019-289F-55F4-0EF4FD3CA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938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56DA0-76F2-0493-5CD9-D6D30264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" y="84571"/>
            <a:ext cx="10515600" cy="74670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85385-0EC0-D44D-8BC4-D7CD3FED983B}"/>
              </a:ext>
            </a:extLst>
          </p:cNvPr>
          <p:cNvSpPr txBox="1"/>
          <p:nvPr/>
        </p:nvSpPr>
        <p:spPr>
          <a:xfrm>
            <a:off x="262369" y="831273"/>
            <a:ext cx="11707957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developed a highly effective Traffic Sign Recognition (TSR) system using a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Advanced image preprocessing techniques like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cropping and CLAHE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data augmentation, made the model highly robust. The primary objective was exceeded, with the final model achieving an outstanding accuracy of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98.56%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unseen test data. This project’s success demonstrates the power of CNNs for enhancing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Driver-Assistance Systems (ADAS)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autonomous vehicles. A functional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prototype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created to effectively demonstrate the model's practical application.</a:t>
            </a:r>
          </a:p>
        </p:txBody>
      </p:sp>
    </p:spTree>
    <p:extLst>
      <p:ext uri="{BB962C8B-B14F-4D97-AF65-F5344CB8AC3E}">
        <p14:creationId xmlns:p14="http://schemas.microsoft.com/office/powerpoint/2010/main" val="177851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9418-76E1-8D39-BE6F-0A2F980FB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"/>
            <a:ext cx="10515600" cy="89361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5A648-9F09-2FEB-3D3C-BEE68D03BD97}"/>
              </a:ext>
            </a:extLst>
          </p:cNvPr>
          <p:cNvSpPr txBox="1"/>
          <p:nvPr/>
        </p:nvSpPr>
        <p:spPr>
          <a:xfrm>
            <a:off x="290077" y="867343"/>
            <a:ext cx="11636089" cy="242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G, Girish Kumar &amp; Kishore, Ashish &amp; Krishna, Aaditya. (2025). Real-time traffic sign recognition and autonomous vehicle control system using convolutional neural networks. Multimedia Tools and Applications. 1-36. 10.1007/s11042-025-20853-8.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FB251B-FBB2-20A5-2BEF-D5CD2285018D}"/>
              </a:ext>
            </a:extLst>
          </p:cNvPr>
          <p:cNvSpPr txBox="1"/>
          <p:nvPr/>
        </p:nvSpPr>
        <p:spPr>
          <a:xfrm>
            <a:off x="219509" y="3245323"/>
            <a:ext cx="11682414" cy="1820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Farag, Wael. (2019). Traffic signs classification by deep learning for advanced driving assistance systems. Intelligent Decision Technologies. 13. 1-10. 10.3233/IDT-180064.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D4F0D-9E35-E74C-861B-EE3C4B816962}"/>
              </a:ext>
            </a:extLst>
          </p:cNvPr>
          <p:cNvSpPr txBox="1"/>
          <p:nvPr/>
        </p:nvSpPr>
        <p:spPr>
          <a:xfrm>
            <a:off x="219510" y="4980604"/>
            <a:ext cx="11682413" cy="1820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Alghmgham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Danyah &amp; Latif, Ghazanfar &amp;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Alghazo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Jaafar &amp; Alzubaidi, Loay. (2019). Autonomous Traffic Sign (ATSR) Detection and Recognition using Deep CNN. Procedia Computer Science. 163. 266-274. 10.1016/j.procs.2019.12.108. </a:t>
            </a:r>
          </a:p>
        </p:txBody>
      </p:sp>
    </p:spTree>
    <p:extLst>
      <p:ext uri="{BB962C8B-B14F-4D97-AF65-F5344CB8AC3E}">
        <p14:creationId xmlns:p14="http://schemas.microsoft.com/office/powerpoint/2010/main" val="65119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1251</Words>
  <Application>Microsoft Office PowerPoint</Application>
  <PresentationFormat>Widescreen</PresentationFormat>
  <Paragraphs>73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Open Sans</vt:lpstr>
      <vt:lpstr>Times New Roman</vt:lpstr>
      <vt:lpstr>Vani</vt:lpstr>
      <vt:lpstr>Verdana</vt:lpstr>
      <vt:lpstr>Wingdings</vt:lpstr>
      <vt:lpstr>Office Theme</vt:lpstr>
      <vt:lpstr>PowerPoint Presentation</vt:lpstr>
      <vt:lpstr>Traffic Sign Recognition for Autonomous Vehicles</vt:lpstr>
      <vt:lpstr> Abstract</vt:lpstr>
      <vt:lpstr> The Autonomous Driving Revolution</vt:lpstr>
      <vt:lpstr>What is Traffic Sign Recognition (TSR)?</vt:lpstr>
      <vt:lpstr> Technical Challenges in TSR</vt:lpstr>
      <vt:lpstr>PowerPoint Presentation</vt:lpstr>
      <vt:lpstr>PowerPoint Presentation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</dc:creator>
  <cp:lastModifiedBy>prem</cp:lastModifiedBy>
  <cp:revision>19</cp:revision>
  <dcterms:created xsi:type="dcterms:W3CDTF">2025-09-17T06:57:10Z</dcterms:created>
  <dcterms:modified xsi:type="dcterms:W3CDTF">2025-10-04T04:04:22Z</dcterms:modified>
</cp:coreProperties>
</file>